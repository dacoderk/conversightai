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3300"/>
                </a:solidFill>
                <a:latin typeface="JetBrains Mono"/>
              </a:defRPr>
            </a:pPr>
            <a:r>
              <a:t>CONVERSIGHT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FFFFFF"/>
                </a:solidFill>
                <a:latin typeface="Archivo"/>
              </a:defRPr>
            </a:pPr>
            <a:r>
              <a:t>CONVERSATIONAL</a:t>
            </a:r>
          </a:p>
          <a:p>
            <a:pPr>
              <a:spcAft>
                <a:spcPts val="600"/>
              </a:spcAft>
              <a:defRPr sz="5400" b="1">
                <a:solidFill>
                  <a:srgbClr val="FF3300"/>
                </a:solidFill>
                <a:latin typeface="Archivo"/>
              </a:defRPr>
            </a:pPr>
            <a:r>
              <a:t>INTELLIGENCE</a:t>
            </a:r>
          </a:p>
          <a:p>
            <a:pPr>
              <a:spcAft>
                <a:spcPts val="1200"/>
              </a:spcAft>
              <a:defRPr sz="5400" b="1">
                <a:solidFill>
                  <a:srgbClr val="FF3300"/>
                </a:solidFill>
                <a:latin typeface="Archivo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888888"/>
                </a:solidFill>
                <a:latin typeface="Nunito"/>
              </a:defRPr>
            </a:pPr>
            <a:r>
              <a:t>Executive data science presentation mapping B2B meeting sentiments, action workloads, churn indicators, and entity network centralities.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5486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888888"/>
                </a:solidFill>
                <a:latin typeface="JetBrains Mono"/>
              </a:defRPr>
            </a:pPr>
            <a:r>
              <a:t>Lead Data Scientist Report  •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01. The Raw Dataset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Structuring raw conversational signals for analytical indexing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468880" cy="2011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03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3300"/>
                </a:solidFill>
                <a:latin typeface="Archivo"/>
              </a:defRPr>
            </a:pPr>
            <a:r>
              <a:t>100</a:t>
            </a:r>
          </a:p>
          <a:p>
            <a:pPr>
              <a:defRPr sz="1300">
                <a:solidFill>
                  <a:srgbClr val="888888"/>
                </a:solidFill>
                <a:latin typeface="Nunito"/>
              </a:defRPr>
            </a:pPr>
            <a:r>
              <a:t>Meetings Ingested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645920"/>
            <a:ext cx="2468880" cy="2011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828800"/>
            <a:ext cx="2103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3300"/>
                </a:solidFill>
                <a:latin typeface="Archivo"/>
              </a:defRPr>
            </a:pPr>
            <a:r>
              <a:t>4,313</a:t>
            </a:r>
          </a:p>
          <a:p>
            <a:pPr>
              <a:defRPr sz="1300">
                <a:solidFill>
                  <a:srgbClr val="888888"/>
                </a:solidFill>
                <a:latin typeface="Nunito"/>
              </a:defRPr>
            </a:pPr>
            <a:r>
              <a:t>Dialogue Turns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2468880" cy="2011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103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3300"/>
                </a:solidFill>
                <a:latin typeface="Archivo"/>
              </a:defRPr>
            </a:pPr>
            <a:r>
              <a:t>397</a:t>
            </a:r>
          </a:p>
          <a:p>
            <a:pPr>
              <a:defRPr sz="1300">
                <a:solidFill>
                  <a:srgbClr val="888888"/>
                </a:solidFill>
                <a:latin typeface="Nunito"/>
              </a:defRPr>
            </a:pPr>
            <a:r>
              <a:t>Action Deliverables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931920"/>
            <a:ext cx="2468880" cy="2011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114800"/>
            <a:ext cx="2103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3300"/>
                </a:solidFill>
                <a:latin typeface="Archivo"/>
              </a:defRPr>
            </a:pPr>
            <a:r>
              <a:t>6</a:t>
            </a:r>
          </a:p>
          <a:p>
            <a:pPr>
              <a:defRPr sz="1300">
                <a:solidFill>
                  <a:srgbClr val="888888"/>
                </a:solidFill>
                <a:latin typeface="Nunito"/>
              </a:defRPr>
            </a:pPr>
            <a:r>
              <a:t>Files Per Meeting Folder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45920"/>
            <a:ext cx="557784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300"/>
                </a:solidFill>
                <a:latin typeface="Archivo"/>
              </a:defRPr>
            </a:pPr>
            <a:r>
              <a:t>MEETING DATA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meeting-info.json:</a:t>
            </a:r>
            <a:r>
              <a:rPr b="0" sz="1300">
                <a:solidFill>
                  <a:srgbClr val="888888"/>
                </a:solidFill>
                <a:latin typeface="Nunito"/>
              </a:rPr>
              <a:t> Host metadata, timing, allEmails, title.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summary.json:</a:t>
            </a:r>
            <a:r>
              <a:rPr b="0" sz="1300">
                <a:solidFill>
                  <a:srgbClr val="888888"/>
                </a:solidFill>
                <a:latin typeface="Nunito"/>
              </a:rPr>
              <a:t> Bulleted topics list, key moments, action items.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speakers.json:</a:t>
            </a:r>
            <a:r>
              <a:rPr b="0" sz="1300">
                <a:solidFill>
                  <a:srgbClr val="888888"/>
                </a:solidFill>
                <a:latin typeface="Nunito"/>
              </a:rPr>
              <a:t> Resolves speaker IDs to real names (e.g. Maria Santos).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speaker-meta.json:</a:t>
            </a:r>
            <a:r>
              <a:rPr b="0" sz="1300">
                <a:solidFill>
                  <a:srgbClr val="888888"/>
                </a:solidFill>
                <a:latin typeface="Nunito"/>
              </a:rPr>
              <a:t> Maps speaker names to roles (Customer, support, etc).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transcript.json:</a:t>
            </a:r>
            <a:r>
              <a:rPr b="0" sz="1300">
                <a:solidFill>
                  <a:srgbClr val="888888"/>
                </a:solidFill>
                <a:latin typeface="Nunito"/>
              </a:rPr>
              <a:t> Chronological list of sentences with turn sentiments.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events.json:</a:t>
            </a:r>
            <a:r>
              <a:rPr b="0" sz="1300">
                <a:solidFill>
                  <a:srgbClr val="888888"/>
                </a:solidFill>
                <a:latin typeface="Nunito"/>
              </a:rPr>
              <a:t> Event trigger timelines (product/competitor mention tags).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02. Data Ingestion Pipeline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Notebook 1: Normalizing conversational text into transactional relational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2120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300"/>
                </a:solidFill>
                <a:latin typeface="Archivo"/>
              </a:defRPr>
            </a:pPr>
            <a:r>
              <a:t>ETL PIPELINE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Validation Gate:</a:t>
            </a:r>
            <a:r>
              <a:rPr b="0" sz="1300">
                <a:solidFill>
                  <a:srgbClr val="888888"/>
                </a:solidFill>
                <a:latin typeface="Nunito"/>
              </a:rPr>
              <a:t> Automatically isolates missing files or corrupt JSON formats without crashing execution.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B2B Account Resolution:</a:t>
            </a:r>
            <a:r>
              <a:rPr b="0" sz="1300">
                <a:solidFill>
                  <a:srgbClr val="888888"/>
                </a:solidFill>
                <a:latin typeface="Nunito"/>
              </a:rPr>
              <a:t> Truncates email domains (e.g. ridge.com) to resolve client domains and map customer organizations.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Speaker Role Attribution:</a:t>
            </a:r>
            <a:r>
              <a:rPr b="0" sz="1300">
                <a:solidFill>
                  <a:srgbClr val="888888"/>
                </a:solidFill>
                <a:latin typeface="Nunito"/>
              </a:rPr>
              <a:t> Classifies participants into Support Agent, Engineer, Account Manager, or Customer.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Regex Deadline Parser:</a:t>
            </a:r>
            <a:r>
              <a:rPr b="0" sz="1300">
                <a:solidFill>
                  <a:srgbClr val="888888"/>
                </a:solidFill>
                <a:latin typeface="Nunito"/>
              </a:rPr>
              <a:t> Standardizes text milestones (e.g. 'by Friday' or 'next week') into structured database targets.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577840" cy="2011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300"/>
                </a:solidFill>
                <a:latin typeface="JetBrains Mono"/>
              </a:defRPr>
            </a:pPr>
            <a:r>
              <a:t>DATABASE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Nunito"/>
              </a:defRPr>
            </a:pPr>
            <a:r>
              <a:t>DuckDB Local Analytical Warehouse</a:t>
            </a:r>
          </a:p>
          <a:p>
            <a:pPr>
              <a:spcBef>
                <a:spcPts val="400"/>
              </a:spcBef>
              <a:defRPr sz="1200">
                <a:solidFill>
                  <a:srgbClr val="888888"/>
                </a:solidFill>
                <a:latin typeface="Nunito"/>
              </a:defRPr>
            </a:pPr>
            <a:r>
              <a:t>DuckDB operates as an in-process columnar database. This allows running fast OLAP queries over transcript turns in microseconds, eliminating the overhead of cloud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931920"/>
            <a:ext cx="5577840" cy="2011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CCFF"/>
                </a:solidFill>
                <a:latin typeface="JetBrains Mono"/>
              </a:defRPr>
            </a:pPr>
            <a:r>
              <a:t>CONCURRENCY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Nunito"/>
              </a:defRPr>
            </a:pPr>
            <a:r>
              <a:t>Double-Lock Connection Workaround</a:t>
            </a:r>
          </a:p>
          <a:p>
            <a:pPr>
              <a:spcBef>
                <a:spcPts val="400"/>
              </a:spcBef>
              <a:defRPr sz="1200">
                <a:solidFill>
                  <a:srgbClr val="888888"/>
                </a:solidFill>
                <a:latin typeface="Nunito"/>
              </a:defRPr>
            </a:pPr>
            <a:r>
              <a:t>DuckDB allows only one writer process at a time. The pipeline writes to 'conversight_pipeline_test.db' to prevent write locks and crashes when the web server/dashboard is running.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03. Call Profile Analysis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Classifying the engagement channels and duration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3832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3300"/>
                </a:solidFill>
                <a:latin typeface="JetBrains Mono"/>
              </a:defRPr>
            </a:pPr>
            <a:r>
              <a:t>EXTERNAL ENGAGEMENTS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chivo"/>
              </a:defRPr>
            </a:pPr>
            <a:r>
              <a:t>65% of Total Volume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Client-facing business reviews, onboarding cycles, and contract renewal reviews. This dominates account managers' calendar schedules.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3300"/>
                </a:solidFill>
                <a:latin typeface="Archivo"/>
              </a:defRPr>
            </a:pPr>
            <a:r>
              <a:t>45m avg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JetBrains Mono"/>
              </a:defRPr>
            </a:pPr>
            <a:r>
              <a:t>SUPPORT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chivo"/>
              </a:defRPr>
            </a:pPr>
            <a:r>
              <a:t>27% of Total Volume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Urgent customer troubleshooting calls covering SSO setup issues, billing disputes, certificate failures, and service outages.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9377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00CCFF"/>
                </a:solidFill>
                <a:latin typeface="Archivo"/>
              </a:defRPr>
            </a:pPr>
            <a:r>
              <a:t>28m avg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3832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828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CC71"/>
                </a:solidFill>
                <a:latin typeface="JetBrains Mono"/>
              </a:defRPr>
            </a:pPr>
            <a:r>
              <a:t>INTERNAL SYNCS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chivo"/>
              </a:defRPr>
            </a:pPr>
            <a:r>
              <a:t>8% of Total Volume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Engineering backlog sprints, roadmap coordination, incident post-mortems, and SOC 2 security compliance reviews.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377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2ECC71"/>
                </a:solidFill>
                <a:latin typeface="Archivo"/>
              </a:defRPr>
            </a:pPr>
            <a:r>
              <a:t>18m avg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04. Conversational Theme Mapping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How topics isolate themselves cleanly based on meeting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38328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3300"/>
                </a:solidFill>
                <a:latin typeface="Archivo"/>
              </a:defRPr>
            </a:pPr>
            <a:r>
              <a:t>SUPPORT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6517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Billing &amp; Invoices:</a:t>
            </a:r>
            <a:r>
              <a:rPr b="0" sz="1200">
                <a:solidFill>
                  <a:srgbClr val="888888"/>
                </a:solidFill>
                <a:latin typeface="Nunito"/>
              </a:rPr>
              <a:t> Constant friction queries regarding overage charges and invoice seat calculations.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API Integrations:</a:t>
            </a:r>
            <a:r>
              <a:rPr b="0" sz="1200">
                <a:solidFill>
                  <a:srgbClr val="888888"/>
                </a:solidFill>
                <a:latin typeface="Nunito"/>
              </a:rPr>
              <a:t> SSO onboarding challenges with Active Directory and custom identity provider mappings.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Service Outages:</a:t>
            </a:r>
            <a:r>
              <a:rPr b="0" sz="1200">
                <a:solidFill>
                  <a:srgbClr val="888888"/>
                </a:solidFill>
                <a:latin typeface="Nunito"/>
              </a:rPr>
              <a:t> Critical volume alerts and troubleshooting during active system downtime incidents.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CFF"/>
                </a:solidFill>
                <a:latin typeface="Archivo"/>
              </a:defRPr>
            </a:pPr>
            <a:r>
              <a:t>INTERNAL SPRINTS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60320"/>
            <a:ext cx="26517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Roadmap &amp; Team:</a:t>
            </a:r>
            <a:r>
              <a:rPr b="0" sz="1200">
                <a:solidFill>
                  <a:srgbClr val="888888"/>
                </a:solidFill>
                <a:latin typeface="Nunito"/>
              </a:rPr>
              <a:t> Internal coordination of feature backlog items, releases, and resource allocations.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Compliance Audits:</a:t>
            </a:r>
            <a:r>
              <a:rPr b="0" sz="1200">
                <a:solidFill>
                  <a:srgbClr val="888888"/>
                </a:solidFill>
                <a:latin typeface="Nunito"/>
              </a:rPr>
              <a:t> SOC 2 security framework preparations and audit artifact collections.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Post-Mortem:</a:t>
            </a:r>
            <a:r>
              <a:rPr b="0" sz="1200">
                <a:solidFill>
                  <a:srgbClr val="888888"/>
                </a:solidFill>
                <a:latin typeface="Nunito"/>
              </a:rPr>
              <a:t> Incident reviews focusing on root cause analysis and platform stability improvements.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3832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9202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  <a:latin typeface="Archivo"/>
              </a:defRPr>
            </a:pPr>
            <a:r>
              <a:t>COMMERCIAL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560320"/>
            <a:ext cx="26517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Contract Renewals:</a:t>
            </a:r>
            <a:r>
              <a:rPr b="0" sz="1200">
                <a:solidFill>
                  <a:srgbClr val="888888"/>
                </a:solidFill>
                <a:latin typeface="Nunito"/>
              </a:rPr>
              <a:t> Commercial accounts discussions and renewal terms negotiations.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Pricing &amp; Packaging:</a:t>
            </a:r>
            <a:r>
              <a:rPr b="0" sz="1200">
                <a:solidFill>
                  <a:srgbClr val="888888"/>
                </a:solidFill>
                <a:latin typeface="Nunito"/>
              </a:rPr>
              <a:t> High-friction client debates on tiered pricing and seat usage limitations.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Competitor Comparison:</a:t>
            </a:r>
            <a:r>
              <a:rPr b="0" sz="1200">
                <a:solidFill>
                  <a:srgbClr val="888888"/>
                </a:solidFill>
                <a:latin typeface="Nunito"/>
              </a:rPr>
              <a:t> Active buyer evaluations comparing Aegis to Okta, Ping Identity, and Duo.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05. Turn-Level Sentiment by Speaker Role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Measuring the emotional patterns across 4,313 spoken sentences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2120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chivo"/>
              </a:defRPr>
            </a:pPr>
            <a:r>
              <a:t>ROLE SENTIMENT DISTRIBUTION (%)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77440"/>
          <a:ext cx="4663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14400"/>
                <a:gridCol w="91440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3300"/>
                          </a:solidFill>
                          <a:latin typeface="Archivo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3300"/>
                          </a:solidFill>
                          <a:latin typeface="Archivo"/>
                        </a:defRPr>
                      </a:pPr>
                      <a:r>
                        <a:t>NEG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3300"/>
                          </a:solidFill>
                          <a:latin typeface="Archivo"/>
                        </a:defRPr>
                      </a:pPr>
                      <a:r>
                        <a:t>NEUT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3300"/>
                          </a:solidFill>
                          <a:latin typeface="Archivo"/>
                        </a:defRPr>
                      </a:pPr>
                      <a:r>
                        <a:t>POS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unito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3300"/>
                          </a:solidFill>
                          <a:latin typeface="Nunito"/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88"/>
                          </a:solidFill>
                          <a:latin typeface="Nunito"/>
                        </a:defRPr>
                      </a:pPr>
                      <a:r>
                        <a:t>44.7%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  <a:latin typeface="Nunito"/>
                        </a:defRPr>
                      </a:pPr>
                      <a:r>
                        <a:t>28.5%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unito"/>
                        </a:defRPr>
                      </a:pPr>
                      <a:r>
                        <a:t>Account Manager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88"/>
                          </a:solidFill>
                          <a:latin typeface="Nunito"/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88"/>
                          </a:solidFill>
                          <a:latin typeface="Nunito"/>
                        </a:defRPr>
                      </a:pPr>
                      <a:r>
                        <a:t>56.6%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  <a:latin typeface="Nunito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unito"/>
                        </a:defRPr>
                      </a:pPr>
                      <a:r>
                        <a:t>Support Agent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88888"/>
                          </a:solidFill>
                          <a:latin typeface="Nunito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unito"/>
                        </a:defRPr>
                      </a:pPr>
                      <a:r>
                        <a:t>81.3%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ECC71"/>
                          </a:solidFill>
                          <a:latin typeface="Nunito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35040" y="1645920"/>
            <a:ext cx="557784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300"/>
                </a:solidFill>
                <a:latin typeface="Archivo"/>
              </a:defRPr>
            </a:pPr>
            <a:r>
              <a:t>KEY METRIC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High Customer Negativity:</a:t>
            </a:r>
            <a:r>
              <a:rPr b="0" sz="1300">
                <a:solidFill>
                  <a:srgbClr val="888888"/>
                </a:solidFill>
                <a:latin typeface="Nunito"/>
              </a:rPr>
              <a:t> Customers exhibit 26.8% negative sentiment turns. This matches complaints regarding SSO outages and billing mismatches.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Support Agent Composure:</a:t>
            </a:r>
            <a:r>
              <a:rPr b="0" sz="1300">
                <a:solidFill>
                  <a:srgbClr val="888888"/>
                </a:solidFill>
                <a:latin typeface="Nunito"/>
              </a:rPr>
              <a:t> Support agents hold a high 81.3% neutral ratio, reflecting structured, professional handling of client issues.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Account Manager Commercials:</a:t>
            </a:r>
            <a:r>
              <a:rPr b="0" sz="1300">
                <a:solidFill>
                  <a:srgbClr val="888888"/>
                </a:solidFill>
                <a:latin typeface="Nunito"/>
              </a:rPr>
              <a:t> Account Managers drive positive turn sentiment (30.4%), guiding escalations toward contract resolutions and roadmap expansions.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06. Chronological Resolution Shifts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Dividing calls into thirds to rank successful customer resolutions vs. escalations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2120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ECC71"/>
                </a:solidFill>
                <a:latin typeface="JetBrains Mono"/>
              </a:defRPr>
            </a:pPr>
            <a:r>
              <a:t>SUCCESSFUL RESOLUTIONS (+ SHIFT)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chivo"/>
              </a:defRPr>
            </a:pPr>
            <a:r>
              <a:t>Aegis / Crestline Wealth Identity</a:t>
            </a:r>
          </a:p>
          <a:p>
            <a:pPr>
              <a:spcBef>
                <a:spcPts val="10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Starts with extreme customer frustration (negative turn density in the first 1/3 is high due to an active Identity module lock issue).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The call shifts to 100% positive sentiment in the final 1/3 as support successfully resolves the SSO routing configuration, providing a massive resolution lift.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4480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Archivo"/>
              </a:defRPr>
            </a:pPr>
            <a:r>
              <a:t>+1.00 Shift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557784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300"/>
                </a:solidFill>
                <a:latin typeface="JetBrains Mono"/>
              </a:defRPr>
            </a:pPr>
            <a:r>
              <a:t>ESCALATED DISPUTES (- SHIFT)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chivo"/>
              </a:defRPr>
            </a:pPr>
            <a:r>
              <a:t>Northstar Pharma Outage</a:t>
            </a:r>
          </a:p>
          <a:p>
            <a:pPr>
              <a:spcBef>
                <a:spcPts val="10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Starts with normal status summaries but finishes with heavy negative sentence density in the final 1/3.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Customer concerns about regulatory compliance records and server downtime remain unaddressed, leading to an escalation with unresolved action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300"/>
                </a:solidFill>
                <a:latin typeface="Archivo"/>
              </a:defRPr>
            </a:pPr>
            <a:r>
              <a:t>-0.77 Shift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07. Customer Churn Risk Index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Weighted composite scoring model (0 to 100) running inside DuckDB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2120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300"/>
                </a:solidFill>
                <a:latin typeface="Archivo"/>
              </a:defRPr>
            </a:pPr>
            <a:r>
              <a:t>COMPOSITE RISK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40% - Meeting Sentiment:</a:t>
            </a:r>
            <a:r>
              <a:rPr b="0" sz="1200">
                <a:solidFill>
                  <a:srgbClr val="888888"/>
                </a:solidFill>
                <a:latin typeface="Nunito"/>
              </a:rPr>
              <a:t> Scaled penalty computed directly from overall sentiment score (1.0 to 5.0).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30% - Negative Turn Density:</a:t>
            </a:r>
            <a:r>
              <a:rPr b="0" sz="1200">
                <a:solidFill>
                  <a:srgbClr val="888888"/>
                </a:solidFill>
                <a:latin typeface="Nunito"/>
              </a:rPr>
              <a:t> Calculated ratio of negative spoken sentences to total sentences.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20% - Competitor Mention:</a:t>
            </a:r>
            <a:r>
              <a:rPr b="0" sz="1200">
                <a:solidFill>
                  <a:srgbClr val="888888"/>
                </a:solidFill>
                <a:latin typeface="Nunito"/>
              </a:rPr>
              <a:t> Flat 20pts added if Okta, Ping Identity, or Duo is mentioned.</a:t>
            </a:r>
          </a:p>
          <a:p>
            <a:pPr>
              <a:spcAft>
                <a:spcPts val="800"/>
              </a:spcAft>
              <a:defRPr sz="12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200">
                <a:solidFill>
                  <a:srgbClr val="FFFFFF"/>
                </a:solidFill>
                <a:latin typeface="Nunito"/>
              </a:rPr>
              <a:t>10% - Keywords Match:</a:t>
            </a:r>
            <a:r>
              <a:rPr b="0" sz="1200">
                <a:solidFill>
                  <a:srgbClr val="888888"/>
                </a:solidFill>
                <a:latin typeface="Nunito"/>
              </a:rPr>
              <a:t> Flat 10pts added for risk phrases (e.g. 'cancel', 'broken', 'billing').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577840" cy="128016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CC71"/>
                </a:solidFill>
                <a:latin typeface="Archivo"/>
              </a:defRPr>
            </a:pPr>
            <a: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Nunito"/>
              </a:defRPr>
            </a:pPr>
            <a:r>
              <a:t>Low Risk Meetings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3108960"/>
            <a:ext cx="5577840" cy="128016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E6A7"/>
                </a:solidFill>
                <a:latin typeface="Archivo"/>
              </a:defRPr>
            </a:pPr>
            <a: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Nunito"/>
              </a:defRPr>
            </a:pPr>
            <a:r>
              <a:t>Medium Risk Meetings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572000"/>
            <a:ext cx="5577840" cy="137160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3300"/>
                </a:solidFill>
                <a:latin typeface="Archivo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Nunito"/>
              </a:defRPr>
            </a:pPr>
            <a:r>
              <a:t>High Risk Meetings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08. Operational Bottlenecks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Identifying task delivery bottleneck risks and parsed deadlines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21208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chivo"/>
              </a:defRPr>
            </a:pPr>
            <a:r>
              <a:t>TOP OWNER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300"/>
                </a:solidFill>
                <a:latin typeface="Archivo"/>
              </a:defRPr>
            </a:pPr>
            <a:r>
              <a:t>31 Tasks  -  Maria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chivo"/>
              </a:defRPr>
            </a:pPr>
            <a:r>
              <a:t>24 Tasks  -  David Kim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chivo"/>
              </a:defRPr>
            </a:pPr>
            <a:r>
              <a:t>23 Tasks  -  Sarah Chen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57784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300"/>
                </a:solidFill>
                <a:latin typeface="Archivo"/>
              </a:defRPr>
            </a:pPr>
            <a:r>
              <a:t>TIMELINE &amp; CAPACITY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Capacity Overload:</a:t>
            </a:r>
            <a:r>
              <a:rPr b="0" sz="1300">
                <a:solidFill>
                  <a:srgbClr val="888888"/>
                </a:solidFill>
                <a:latin typeface="Nunito"/>
              </a:rPr>
              <a:t> The top 3 assignees carry over 20% of all tasks in the dataset. Represents an operational single-point-of-failure risk.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Parsed Deadline Concentration:</a:t>
            </a:r>
            <a:r>
              <a:rPr b="0" sz="1300">
                <a:solidFill>
                  <a:srgbClr val="888888"/>
                </a:solidFill>
                <a:latin typeface="Nunito"/>
              </a:rPr>
              <a:t> Most parsed deadlines fall in 'Next Week' or 'End of Week' (Friday), showing compressed delivery windows.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  <a:latin typeface="Nunito"/>
              </a:defRPr>
            </a:pPr>
            <a:r>
              <a:t>•  </a:t>
            </a:r>
            <a:r>
              <a:rPr b="1" sz="1300">
                <a:solidFill>
                  <a:srgbClr val="FFFFFF"/>
                </a:solidFill>
                <a:latin typeface="Nunito"/>
              </a:rPr>
              <a:t>Undocumented Timelines:</a:t>
            </a:r>
            <a:r>
              <a:rPr b="0" sz="1300">
                <a:solidFill>
                  <a:srgbClr val="888888"/>
                </a:solidFill>
                <a:latin typeface="Nunito"/>
              </a:rPr>
              <a:t> 362 action items lack explicit deadlines (N/A), increasing risk of critical support follow-ups slipping.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chivo"/>
              </a:defRPr>
            </a:pPr>
            <a:r>
              <a:t>09. Entity Centrality Analysis</a:t>
            </a:r>
          </a:p>
          <a:p>
            <a:pPr>
              <a:defRPr sz="1400">
                <a:solidFill>
                  <a:srgbClr val="888888"/>
                </a:solidFill>
                <a:latin typeface="Nunito"/>
              </a:defRPr>
            </a:pPr>
            <a:r>
              <a:t>Degree centrality metrics mapping communication density in the knowledge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21208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FF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3300"/>
                </a:solidFill>
                <a:latin typeface="JetBrains Mono"/>
              </a:defRPr>
            </a:pPr>
            <a:r>
              <a:t>MOST DISCUSSED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chivo"/>
              </a:defRPr>
            </a:pPr>
            <a:r>
              <a:t>Aegis Detect</a:t>
            </a:r>
          </a:p>
          <a:p>
            <a:pPr>
              <a:spcBef>
                <a:spcPts val="10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Top entity node in the entire communication network. The degree density represents connections to various meetings, outage alerts, and support tickets.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Its centrality matches the high frequency of outages and compliance alert complaints in the customer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4480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300"/>
                </a:solidFill>
                <a:latin typeface="Archivo"/>
              </a:defRPr>
            </a:pPr>
            <a:r>
              <a:t>138 connections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5577840" cy="4297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CCFF"/>
                </a:solidFill>
                <a:latin typeface="JetBrains Mono"/>
              </a:defRPr>
            </a:pPr>
            <a:r>
              <a:t>MOST ACTIVE REPRESENTATIVE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chivo"/>
              </a:defRPr>
            </a:pPr>
            <a:r>
              <a:t>Maria Santos</a:t>
            </a:r>
          </a:p>
          <a:p>
            <a:pPr>
              <a:spcBef>
                <a:spcPts val="10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Maria Santos stands out as the most connected speaker in corporate meetings. This highlights her role hosting critical support reviews, renewals, and outages.</a:t>
            </a:r>
          </a:p>
          <a:p>
            <a:pPr>
              <a:spcBef>
                <a:spcPts val="800"/>
              </a:spcBef>
              <a:defRPr sz="1300">
                <a:solidFill>
                  <a:srgbClr val="888888"/>
                </a:solidFill>
                <a:latin typeface="Nunito"/>
              </a:defRPr>
            </a:pPr>
            <a:r>
              <a:t>This centrality matches her top task count (31), highlighting her position as a major resource 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CCFF"/>
                </a:solidFill>
                <a:latin typeface="Archivo"/>
              </a:defRPr>
            </a:pPr>
            <a:r>
              <a:t>110 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217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88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